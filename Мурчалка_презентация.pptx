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накомство" id="{425cde12-3697-f0d4-1a60-3bd30939b053}">
          <p14:sldIdLst>
            <p14:sldId id="256"/>
            <p14:sldId id="257"/>
          </p14:sldIdLst>
        </p14:section>
        <p14:section name="Деньги" id="{c4c5071d-6b90-a53e-cdbc-8f929df0df89}">
          <p14:sldIdLst>
            <p14:sldId id="258"/>
            <p14:sldId id="259"/>
            <p14:sldId id="260"/>
            <p14:sldId id="261"/>
          </p14:sldIdLst>
        </p14:section>
        <p14:section name="Итоги" id="{1d6a3921-7fee-ebce-49ad-1d1413f8001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Ремонт и мебель</c:v>
                </c:pt>
              </c:strCache>
            </c:strRef>
          </c:tx>
          <c:spPr>
            <a:solidFill>
              <a:srgbClr val="D94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Доля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Запуск</c:v>
                </c:pt>
              </c:strCache>
            </c:strRef>
          </c:tx>
          <c:spPr>
            <a:solidFill>
              <a:srgbClr val="4F8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Доля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0.2111111111111111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Подушка</c:v>
                </c:pt>
              </c:strCache>
            </c:strRef>
          </c:tx>
          <c:spPr>
            <a:solidFill>
              <a:srgbClr val="2E9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Доля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0.17777777777777778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Кухня</c:v>
                </c:pt>
              </c:strCache>
            </c:strRef>
          </c:tx>
          <c:spPr>
            <a:solidFill>
              <a:srgbClr val="8E5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Доля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0.15555555555555556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Котики</c:v>
                </c:pt>
              </c:strCache>
            </c:strRef>
          </c:tx>
          <c:spPr>
            <a:solidFill>
              <a:srgbClr val="D08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Доля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0.05555555555555555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3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тыс. ₽</c:v>
                </c:pt>
              </c:strCache>
            </c:strRef>
          </c:tx>
          <c:spPr>
            <a:solidFill>
              <a:srgbClr val="D946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Зарплата</c:v>
                  </c:pt>
                  <c:pt idx="1">
                    <c:v>Аренда</c:v>
                  </c:pt>
                  <c:pt idx="2">
                    <c:v>Реклама</c:v>
                  </c:pt>
                  <c:pt idx="3">
                    <c:v>Прочее</c:v>
                  </c:pt>
                  <c:pt idx="4">
                    <c:v>Коммуналка</c:v>
                  </c:pt>
                  <c:pt idx="5">
                    <c:v>Котики</c:v>
                  </c:pt>
                  <c:pt idx="6">
                    <c:v>% по кредиту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420</c:v>
                </c:pt>
                <c:pt idx="1">
                  <c:v>150</c:v>
                </c:pt>
                <c:pt idx="2">
                  <c:v>50</c:v>
                </c:pt>
                <c:pt idx="3">
                  <c:v>45</c:v>
                </c:pt>
                <c:pt idx="4">
                  <c:v>40</c:v>
                </c:pt>
                <c:pt idx="5">
                  <c:v>35</c:v>
                </c:pt>
                <c:pt idx="6">
                  <c:v>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5B3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3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Котики</c:v>
                </c:pt>
              </c:strCache>
            </c:strRef>
          </c:tx>
          <c:spPr>
            <a:solidFill>
              <a:srgbClr val="D94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Чек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Кафе</c:v>
                </c:pt>
              </c:strCache>
            </c:strRef>
          </c:tx>
          <c:spPr>
            <a:solidFill>
              <a:srgbClr val="4F8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Чек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Мерч</c:v>
                </c:pt>
              </c:strCache>
            </c:strRef>
          </c:tx>
          <c:spPr>
            <a:solidFill>
              <a:srgbClr val="2E9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Чек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3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Гостей в день</c:v>
                </c:pt>
              </c:strCache>
            </c:strRef>
          </c:tx>
          <c:spPr>
            <a:solidFill>
              <a:srgbClr val="D946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26</c:v>
                </c:pt>
                <c:pt idx="2">
                  <c:v>32</c:v>
                </c:pt>
                <c:pt idx="3">
                  <c:v>37</c:v>
                </c:pt>
                <c:pt idx="4">
                  <c:v>42</c:v>
                </c:pt>
                <c:pt idx="5">
                  <c:v>46</c:v>
                </c:pt>
                <c:pt idx="6">
                  <c:v>50</c:v>
                </c:pt>
                <c:pt idx="7">
                  <c:v>52</c:v>
                </c:pt>
                <c:pt idx="8">
                  <c:v>54</c:v>
                </c:pt>
                <c:pt idx="9">
                  <c:v>55</c:v>
                </c:pt>
                <c:pt idx="10">
                  <c:v>56</c:v>
                </c:pt>
                <c:pt idx="11">
                  <c:v>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Безубыточность</c:v>
                </c:pt>
              </c:strCache>
            </c:strRef>
          </c:tx>
          <c:spPr>
            <a:solidFill>
              <a:srgbClr val="8A6A6A"/>
            </a:solidFill>
            <a:ln w="19050" cap="flat">
              <a:solidFill>
                <a:srgbClr val="8A6A6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6A6A"/>
              </a:solidFill>
              <a:ln w="9525" cap="flat">
                <a:solidFill>
                  <a:srgbClr val="8A6A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36</c:v>
                </c:pt>
                <c:pt idx="1">
                  <c:v>36</c:v>
                </c:pt>
                <c:pt idx="2">
                  <c:v>36</c:v>
                </c:pt>
                <c:pt idx="3">
                  <c:v>36</c:v>
                </c:pt>
                <c:pt idx="4">
                  <c:v>36</c:v>
                </c:pt>
                <c:pt idx="5">
                  <c:v>36</c:v>
                </c:pt>
                <c:pt idx="6">
                  <c:v>36</c:v>
                </c:pt>
                <c:pt idx="7">
                  <c:v>36</c:v>
                </c:pt>
                <c:pt idx="8">
                  <c:v>36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3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Накоплено, млн ₽</c:v>
                </c:pt>
              </c:strCache>
            </c:strRef>
          </c:tx>
          <c:spPr>
            <a:solidFill>
              <a:srgbClr val="D94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A3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D9467A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2E9E7E"/>
              </a:solidFill>
              <a:effectLst/>
            </c:spPr>
          </c:dPt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-4.5</c:v>
                </c:pt>
                <c:pt idx="1">
                  <c:v>-4.8</c:v>
                </c:pt>
                <c:pt idx="2">
                  <c:v>-5</c:v>
                </c:pt>
                <c:pt idx="3">
                  <c:v>-5.1</c:v>
                </c:pt>
                <c:pt idx="4">
                  <c:v>-5.1</c:v>
                </c:pt>
                <c:pt idx="5">
                  <c:v>-4.9</c:v>
                </c:pt>
                <c:pt idx="6">
                  <c:v>-4.7</c:v>
                </c:pt>
                <c:pt idx="7">
                  <c:v>-4.4</c:v>
                </c:pt>
                <c:pt idx="8">
                  <c:v>-4</c:v>
                </c:pt>
                <c:pt idx="9">
                  <c:v>-3.6</c:v>
                </c:pt>
                <c:pt idx="10">
                  <c:v>-3.2</c:v>
                </c:pt>
                <c:pt idx="11">
                  <c:v>-2.7</c:v>
                </c:pt>
                <c:pt idx="12">
                  <c:v>-2.3</c:v>
                </c:pt>
                <c:pt idx="13">
                  <c:v>-1.7</c:v>
                </c:pt>
                <c:pt idx="14">
                  <c:v>-1.2</c:v>
                </c:pt>
                <c:pt idx="15">
                  <c:v>-0.7</c:v>
                </c:pt>
                <c:pt idx="16">
                  <c:v>-0.1</c:v>
                </c:pt>
                <c:pt idx="17">
                  <c:v>0.4</c:v>
                </c:pt>
                <c:pt idx="18">
                  <c:v>0.9</c:v>
                </c:pt>
                <c:pt idx="19">
                  <c:v>1.5</c:v>
                </c:pt>
                <c:pt idx="20">
                  <c:v>2</c:v>
                </c:pt>
                <c:pt idx="21">
                  <c:v>2.5</c:v>
                </c:pt>
                <c:pt idx="22">
                  <c:v>3.1</c:v>
                </c:pt>
                <c:pt idx="23">
                  <c:v>3.6</c:v>
                </c:pt>
                <c:pt idx="24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3A3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5"/>
          <c:min val="-6"/>
        </c:scaling>
        <c:delete val="0"/>
        <c:axPos val="l"/>
        <c:majorGridlines>
          <c:spPr>
            <a:ln w="9525" cap="flat">
              <a:solidFill>
                <a:srgbClr val="F6D5E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Я представляю бизнес-план кото-кафе «Мурчалка». Расскажу, сколько денег нужно на старт, какие будут расходы и когда кафе начнёт приносить прибыль.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Людям не хватает тепла и отдыха, котикам из приютов — дома. Зал 120 м², 30 мест, с 11 до 22 каждый день, 8 котиков из приюта — любого можно забрать домой. Зарабатываем на времени с котиками, кафе и мерче.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открытия нужно 4,5 млн ₽: 1,8 млн — ремонт и мебель, 950 тыс. — запуск, 800 тыс. — подушка, 700 тыс. — кухня, 250 тыс. — всё для котиков. 60% — свои деньги, 40% — кредит на 3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месяц — около 765 тыс. ₽: зарплата команды 420 тыс., аренда 150 тыс., остальное — реклама, коммуналка, котики, проценты по кредиту. Плюс продукты, мерч и налог — 24% от выручки.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Средний чек — 950 ₽: 500 за котиков, 380 кафе, 70 мерч. С гостя остаётся около 722 ₽. Безубыточность — 36 гостей в день. В январе ждём 20 гостей, к декабрю — 57: это всего 22% загрузки зала.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3 месяца — убыток около 605 тыс. ₽, его покрывает подушка. С 4-го месяца — прибыль. За 1-й год: выручка 15 млн, прибыль 2,2 млн. На 17-м месяце вложения 4,5 млн полностью вернутся.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Итого: вложения 4,5 млн, первая прибыль на 4-й месяц, окупаемость 17 месяцев, во второй год прибыль около 6,4 млн. «Мурчалка» зарабатывает и помогает котикам найти дом.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1417320"/>
            <a:ext cx="4206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0233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3" Type="http://schemas.openxmlformats.org/officeDocument/2006/relationships/chart" Target="/ppt/charts/chart4.xml"/><Relationship Id="rId2" Type="http://schemas.openxmlformats.org/officeDocument/2006/relationships/image" Target="../media/image-5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914400"/>
            <a:ext cx="21488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 text"/>
          <p:cNvSpPr txBox="1"/>
          <p:nvPr/>
        </p:nvSpPr>
        <p:spPr>
          <a:xfrm>
            <a:off x="548640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БИЗНЕС-ПЛАН · 2027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14173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Мурчалка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кото-кафе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Кофе, десерты и 8 пушистых друзей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из приюта</a:t>
            </a:r>
            <a:endParaRPr lang="en-US" sz="1600" dirty="0"/>
          </a:p>
        </p:txBody>
      </p:sp>
      <p:pic>
        <p:nvPicPr>
          <p:cNvPr id="7" name="Арт: девушка с котиком и кофе" descr="Арт: девушка с котиком и коф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743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Идея</a:t>
            </a:r>
            <a:endParaRPr lang="en-US" sz="3200" dirty="0"/>
          </a:p>
        </p:txBody>
      </p:sp>
      <p:pic>
        <p:nvPicPr>
          <p:cNvPr id="3" name="Кото-кафе: диорама" descr="Кото-кафе: диора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3931920" cy="3931920"/>
          </a:xfrm>
          <a:prstGeom prst="rect">
            <a:avLst/>
          </a:prstGeom>
        </p:spPr>
      </p:pic>
      <p:sp>
        <p:nvSpPr>
          <p:cNvPr id="4" name="Факт 1"/>
          <p:cNvSpPr/>
          <p:nvPr/>
        </p:nvSpPr>
        <p:spPr>
          <a:xfrm>
            <a:off x="4434840" y="1097280"/>
            <a:ext cx="1965960" cy="118872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434840" y="1280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120 м²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уютный зал</a:t>
            </a:r>
            <a:endParaRPr lang="en-US" sz="1300" dirty="0"/>
          </a:p>
        </p:txBody>
      </p:sp>
      <p:sp>
        <p:nvSpPr>
          <p:cNvPr id="7" name="Факт 2"/>
          <p:cNvSpPr/>
          <p:nvPr/>
        </p:nvSpPr>
        <p:spPr>
          <a:xfrm>
            <a:off x="6583680" y="1097280"/>
            <a:ext cx="1965960" cy="118872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0" y="1280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мест</a:t>
            </a:r>
            <a:endParaRPr lang="en-US" sz="1300" dirty="0"/>
          </a:p>
        </p:txBody>
      </p:sp>
      <p:sp>
        <p:nvSpPr>
          <p:cNvPr id="10" name="Факт 3"/>
          <p:cNvSpPr/>
          <p:nvPr/>
        </p:nvSpPr>
        <p:spPr>
          <a:xfrm>
            <a:off x="4434840" y="2468880"/>
            <a:ext cx="1965960" cy="118872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3484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8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3218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котиков из приюта</a:t>
            </a:r>
            <a:endParaRPr lang="en-US" sz="1300" dirty="0"/>
          </a:p>
        </p:txBody>
      </p:sp>
      <p:sp>
        <p:nvSpPr>
          <p:cNvPr id="13" name="Факт 4"/>
          <p:cNvSpPr/>
          <p:nvPr/>
        </p:nvSpPr>
        <p:spPr>
          <a:xfrm>
            <a:off x="6583680" y="2468880"/>
            <a:ext cx="1965960" cy="118872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11–22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218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каждый день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Зарабатываем на:</a:t>
            </a:r>
            <a:endParaRPr lang="en-US" sz="1300" dirty="0"/>
          </a:p>
        </p:txBody>
      </p:sp>
      <p:sp>
        <p:nvSpPr>
          <p:cNvPr id="17" name="Доход котики"/>
          <p:cNvSpPr/>
          <p:nvPr/>
        </p:nvSpPr>
        <p:spPr>
          <a:xfrm>
            <a:off x="4434840" y="42519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8" name="Доход котики text"/>
          <p:cNvSpPr txBox="1"/>
          <p:nvPr/>
        </p:nvSpPr>
        <p:spPr>
          <a:xfrm>
            <a:off x="4434840" y="4251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котики</a:t>
            </a:r>
            <a:endParaRPr lang="en-US" sz="1400" dirty="0"/>
          </a:p>
        </p:txBody>
      </p:sp>
      <p:sp>
        <p:nvSpPr>
          <p:cNvPr id="19" name="Доход кафе"/>
          <p:cNvSpPr/>
          <p:nvPr/>
        </p:nvSpPr>
        <p:spPr>
          <a:xfrm>
            <a:off x="5852160" y="42519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0" name="Доход кафе text"/>
          <p:cNvSpPr txBox="1"/>
          <p:nvPr/>
        </p:nvSpPr>
        <p:spPr>
          <a:xfrm>
            <a:off x="5852160" y="4251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кафе</a:t>
            </a:r>
            <a:endParaRPr lang="en-US" sz="1400" dirty="0"/>
          </a:p>
        </p:txBody>
      </p:sp>
      <p:sp>
        <p:nvSpPr>
          <p:cNvPr id="21" name="Доход мерч"/>
          <p:cNvSpPr/>
          <p:nvPr/>
        </p:nvSpPr>
        <p:spPr>
          <a:xfrm>
            <a:off x="7269480" y="425196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2" name="Доход мерч text"/>
          <p:cNvSpPr txBox="1"/>
          <p:nvPr/>
        </p:nvSpPr>
        <p:spPr>
          <a:xfrm>
            <a:off x="7269480" y="4251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мерч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Что нужно для старта</a:t>
            </a:r>
            <a:endParaRPr lang="en-US" sz="3200" dirty="0"/>
          </a:p>
        </p:txBody>
      </p:sp>
      <p:sp>
        <p:nvSpPr>
          <p:cNvPr id="3" name="Итого капитал"/>
          <p:cNvSpPr/>
          <p:nvPr/>
        </p:nvSpPr>
        <p:spPr>
          <a:xfrm>
            <a:off x="6400800" y="384048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Итого капитал text"/>
          <p:cNvSpPr txBox="1"/>
          <p:nvPr/>
        </p:nvSpPr>
        <p:spPr>
          <a:xfrm>
            <a:off x="6400800" y="3840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Всего 4,5 млн ₽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896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свои 60% · кредит 40%</a:t>
            </a:r>
            <a:endParaRPr lang="en-US" sz="1100" dirty="0"/>
          </a:p>
        </p:txBody>
      </p:sp>
      <p:sp>
        <p:nvSpPr>
          <p:cNvPr id="6" name="Статья Ремонт и мебель"/>
          <p:cNvSpPr/>
          <p:nvPr/>
        </p:nvSpPr>
        <p:spPr>
          <a:xfrm>
            <a:off x="502920" y="1234440"/>
            <a:ext cx="1481328" cy="2377440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pic>
        <p:nvPicPr>
          <p:cNvPr id="7" name="Стикер Ремонт и мебель" descr="Стикер Ремонт и мебел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307592"/>
            <a:ext cx="1188720" cy="1188720"/>
          </a:xfrm>
          <a:prstGeom prst="rect">
            <a:avLst/>
          </a:prstGeom>
        </p:spPr>
      </p:pic>
      <p:sp>
        <p:nvSpPr>
          <p:cNvPr id="8" name="Цвет Ремонт и мебель"/>
          <p:cNvSpPr/>
          <p:nvPr/>
        </p:nvSpPr>
        <p:spPr>
          <a:xfrm>
            <a:off x="685800" y="2651760"/>
            <a:ext cx="146304" cy="146304"/>
          </a:xfrm>
          <a:prstGeom prst="ellipse">
            <a:avLst/>
          </a:prstGeom>
          <a:solidFill>
            <a:srgbClr val="D9467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6968" y="25420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1,8 млн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718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ремонт, мебель, декор</a:t>
            </a:r>
            <a:endParaRPr lang="en-US" sz="1100" dirty="0"/>
          </a:p>
        </p:txBody>
      </p:sp>
      <p:sp>
        <p:nvSpPr>
          <p:cNvPr id="11" name="Статья Запуск"/>
          <p:cNvSpPr/>
          <p:nvPr/>
        </p:nvSpPr>
        <p:spPr>
          <a:xfrm>
            <a:off x="2148840" y="1234440"/>
            <a:ext cx="1481328" cy="2377440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pic>
        <p:nvPicPr>
          <p:cNvPr id="12" name="Стикер Запуск" descr="Стикер Запус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1307592"/>
            <a:ext cx="1188720" cy="1188720"/>
          </a:xfrm>
          <a:prstGeom prst="rect">
            <a:avLst/>
          </a:prstGeom>
        </p:spPr>
      </p:pic>
      <p:sp>
        <p:nvSpPr>
          <p:cNvPr id="13" name="Цвет Запуск"/>
          <p:cNvSpPr/>
          <p:nvPr/>
        </p:nvSpPr>
        <p:spPr>
          <a:xfrm>
            <a:off x="2331720" y="2651760"/>
            <a:ext cx="146304" cy="146304"/>
          </a:xfrm>
          <a:prstGeom prst="ellipse">
            <a:avLst/>
          </a:prstGeom>
          <a:solidFill>
            <a:srgbClr val="4F86D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532888" y="25420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950 тыс.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9718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залог, закупки, реклама</a:t>
            </a:r>
            <a:endParaRPr lang="en-US" sz="1100" dirty="0"/>
          </a:p>
        </p:txBody>
      </p:sp>
      <p:sp>
        <p:nvSpPr>
          <p:cNvPr id="16" name="Статья Подушка"/>
          <p:cNvSpPr/>
          <p:nvPr/>
        </p:nvSpPr>
        <p:spPr>
          <a:xfrm>
            <a:off x="3794760" y="1234440"/>
            <a:ext cx="1481328" cy="2377440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pic>
        <p:nvPicPr>
          <p:cNvPr id="17" name="Стикер Подушка" descr="Стикер Подуш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1307592"/>
            <a:ext cx="1188720" cy="1188720"/>
          </a:xfrm>
          <a:prstGeom prst="rect">
            <a:avLst/>
          </a:prstGeom>
        </p:spPr>
      </p:pic>
      <p:sp>
        <p:nvSpPr>
          <p:cNvPr id="18" name="Цвет Подушка"/>
          <p:cNvSpPr/>
          <p:nvPr/>
        </p:nvSpPr>
        <p:spPr>
          <a:xfrm>
            <a:off x="3977640" y="2651760"/>
            <a:ext cx="146304" cy="146304"/>
          </a:xfrm>
          <a:prstGeom prst="ellipse">
            <a:avLst/>
          </a:prstGeom>
          <a:solidFill>
            <a:srgbClr val="2E9E7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78808" y="25420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800 тыс.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29718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резерв на первые месяцы</a:t>
            </a:r>
            <a:endParaRPr lang="en-US" sz="1100" dirty="0"/>
          </a:p>
        </p:txBody>
      </p:sp>
      <p:sp>
        <p:nvSpPr>
          <p:cNvPr id="21" name="Статья Кухня"/>
          <p:cNvSpPr/>
          <p:nvPr/>
        </p:nvSpPr>
        <p:spPr>
          <a:xfrm>
            <a:off x="5440680" y="1234440"/>
            <a:ext cx="1481328" cy="2377440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pic>
        <p:nvPicPr>
          <p:cNvPr id="22" name="Стикер Кухня" descr="Стикер Кухн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307592"/>
            <a:ext cx="1188720" cy="1188720"/>
          </a:xfrm>
          <a:prstGeom prst="rect">
            <a:avLst/>
          </a:prstGeom>
        </p:spPr>
      </p:pic>
      <p:sp>
        <p:nvSpPr>
          <p:cNvPr id="23" name="Цвет Кухня"/>
          <p:cNvSpPr/>
          <p:nvPr/>
        </p:nvSpPr>
        <p:spPr>
          <a:xfrm>
            <a:off x="5623560" y="2651760"/>
            <a:ext cx="146304" cy="146304"/>
          </a:xfrm>
          <a:prstGeom prst="ellipse">
            <a:avLst/>
          </a:prstGeom>
          <a:solidFill>
            <a:srgbClr val="8E5FD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824728" y="25420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700 тыс.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5577840" y="29718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кухня и кофемашина</a:t>
            </a:r>
            <a:endParaRPr lang="en-US" sz="1100" dirty="0"/>
          </a:p>
        </p:txBody>
      </p:sp>
      <p:sp>
        <p:nvSpPr>
          <p:cNvPr id="26" name="Статья Котики"/>
          <p:cNvSpPr/>
          <p:nvPr/>
        </p:nvSpPr>
        <p:spPr>
          <a:xfrm>
            <a:off x="7086600" y="1234440"/>
            <a:ext cx="1481328" cy="2377440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pic>
        <p:nvPicPr>
          <p:cNvPr id="27" name="Стикер Котики" descr="Стикер Котик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307592"/>
            <a:ext cx="1188720" cy="1188720"/>
          </a:xfrm>
          <a:prstGeom prst="rect">
            <a:avLst/>
          </a:prstGeom>
        </p:spPr>
      </p:pic>
      <p:sp>
        <p:nvSpPr>
          <p:cNvPr id="28" name="Цвет Котики"/>
          <p:cNvSpPr/>
          <p:nvPr/>
        </p:nvSpPr>
        <p:spPr>
          <a:xfrm>
            <a:off x="7269480" y="2651760"/>
            <a:ext cx="146304" cy="146304"/>
          </a:xfrm>
          <a:prstGeom prst="ellipse">
            <a:avLst/>
          </a:prstGeom>
          <a:solidFill>
            <a:srgbClr val="D08A1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470648" y="254203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250 тыс.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223760" y="29718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домики, когтеточки, ветеринар</a:t>
            </a:r>
            <a:endParaRPr lang="en-US" sz="1100" dirty="0"/>
          </a:p>
        </p:txBody>
      </p:sp>
      <p:graphicFrame>
        <p:nvGraphicFramePr>
          <p:cNvPr id="31" name="Доли капитала" descr=""/>
          <p:cNvGraphicFramePr/>
          <p:nvPr/>
        </p:nvGraphicFramePr>
        <p:xfrm>
          <a:off x="502920" y="3840480"/>
          <a:ext cx="8065008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2" name="Доля Ремонт и мебель"/>
          <p:cNvSpPr txBox="1"/>
          <p:nvPr/>
        </p:nvSpPr>
        <p:spPr>
          <a:xfrm>
            <a:off x="502920" y="3840480"/>
            <a:ext cx="3226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40%</a:t>
            </a:r>
            <a:endParaRPr lang="en-US" sz="1300" dirty="0"/>
          </a:p>
        </p:txBody>
      </p:sp>
      <p:sp>
        <p:nvSpPr>
          <p:cNvPr id="33" name="Доля Запуск"/>
          <p:cNvSpPr txBox="1"/>
          <p:nvPr/>
        </p:nvSpPr>
        <p:spPr>
          <a:xfrm>
            <a:off x="3728923" y="3840480"/>
            <a:ext cx="1702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21%</a:t>
            </a:r>
            <a:endParaRPr lang="en-US" sz="1300" dirty="0"/>
          </a:p>
        </p:txBody>
      </p:sp>
      <p:sp>
        <p:nvSpPr>
          <p:cNvPr id="34" name="Доля Подушка"/>
          <p:cNvSpPr txBox="1"/>
          <p:nvPr/>
        </p:nvSpPr>
        <p:spPr>
          <a:xfrm>
            <a:off x="5431536" y="3840480"/>
            <a:ext cx="14337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18%</a:t>
            </a:r>
            <a:endParaRPr lang="en-US" sz="1300" dirty="0"/>
          </a:p>
        </p:txBody>
      </p:sp>
      <p:sp>
        <p:nvSpPr>
          <p:cNvPr id="35" name="Доля Кухня"/>
          <p:cNvSpPr txBox="1"/>
          <p:nvPr/>
        </p:nvSpPr>
        <p:spPr>
          <a:xfrm>
            <a:off x="6865315" y="3840480"/>
            <a:ext cx="12545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16%</a:t>
            </a:r>
            <a:endParaRPr lang="en-US" sz="1300" dirty="0"/>
          </a:p>
        </p:txBody>
      </p:sp>
      <p:sp>
        <p:nvSpPr>
          <p:cNvPr id="36" name="Доля Котики"/>
          <p:cNvSpPr txBox="1"/>
          <p:nvPr/>
        </p:nvSpPr>
        <p:spPr>
          <a:xfrm>
            <a:off x="8119872" y="3840480"/>
            <a:ext cx="448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6%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Расходы каждый месяц</a:t>
            </a:r>
            <a:endParaRPr lang="en-US" sz="3200" dirty="0"/>
          </a:p>
        </p:txBody>
      </p:sp>
      <p:pic>
        <p:nvPicPr>
          <p:cNvPr id="3" name="Котик с чеком" descr="Котик с чек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6012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765 тыс. ₽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месяц, даже если гостей нет</a:t>
            </a:r>
            <a:endParaRPr lang="en-US" sz="1300" dirty="0"/>
          </a:p>
        </p:txBody>
      </p:sp>
      <p:sp>
        <p:nvSpPr>
          <p:cNvPr id="6" name="Переменные расходы"/>
          <p:cNvSpPr/>
          <p:nvPr/>
        </p:nvSpPr>
        <p:spPr>
          <a:xfrm>
            <a:off x="685800" y="4160520"/>
            <a:ext cx="2560320" cy="4114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" name="Переменные расходы text"/>
          <p:cNvSpPr txBox="1"/>
          <p:nvPr/>
        </p:nvSpPr>
        <p:spPr>
          <a:xfrm>
            <a:off x="68580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+ 24% от выручки</a:t>
            </a:r>
            <a:endParaRPr lang="en-US" sz="1400" dirty="0"/>
          </a:p>
        </p:txBody>
      </p:sp>
      <p:sp>
        <p:nvSpPr>
          <p:cNvPr id="8" name="Карточка графика расходов"/>
          <p:cNvSpPr/>
          <p:nvPr/>
        </p:nvSpPr>
        <p:spPr>
          <a:xfrm>
            <a:off x="3611880" y="1097280"/>
            <a:ext cx="5029200" cy="356616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graphicFrame>
        <p:nvGraphicFramePr>
          <p:cNvPr id="9" name="Расходы по статьям, тыс. ₽" descr=""/>
          <p:cNvGraphicFramePr/>
          <p:nvPr/>
        </p:nvGraphicFramePr>
        <p:xfrm>
          <a:off x="374904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09560" y="4315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тыс. 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Откуда деньги</a:t>
            </a:r>
            <a:endParaRPr lang="en-US" sz="3200" dirty="0"/>
          </a:p>
        </p:txBody>
      </p:sp>
      <p:sp>
        <p:nvSpPr>
          <p:cNvPr id="3" name="Средний чек"/>
          <p:cNvSpPr/>
          <p:nvPr/>
        </p:nvSpPr>
        <p:spPr>
          <a:xfrm>
            <a:off x="502920" y="1097280"/>
            <a:ext cx="3429000" cy="356616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Средний чек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950 ₽</a:t>
            </a:r>
            <a:endParaRPr lang="en-US" sz="4000" dirty="0"/>
          </a:p>
        </p:txBody>
      </p:sp>
      <p:graphicFrame>
        <p:nvGraphicFramePr>
          <p:cNvPr id="6" name="Состав среднего чека" descr=""/>
          <p:cNvGraphicFramePr/>
          <p:nvPr/>
        </p:nvGraphicFramePr>
        <p:xfrm>
          <a:off x="640080" y="2148840"/>
          <a:ext cx="3154680" cy="548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Цвет Котики"/>
          <p:cNvSpPr/>
          <p:nvPr/>
        </p:nvSpPr>
        <p:spPr>
          <a:xfrm>
            <a:off x="777240" y="2862072"/>
            <a:ext cx="146304" cy="146304"/>
          </a:xfrm>
          <a:prstGeom prst="ellipse">
            <a:avLst/>
          </a:prstGeom>
          <a:solidFill>
            <a:srgbClr val="D946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Котики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788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500 ₽</a:t>
            </a:r>
            <a:endParaRPr lang="en-US" sz="1400" dirty="0"/>
          </a:p>
        </p:txBody>
      </p:sp>
      <p:sp>
        <p:nvSpPr>
          <p:cNvPr id="10" name="Цвет Кафе"/>
          <p:cNvSpPr/>
          <p:nvPr/>
        </p:nvSpPr>
        <p:spPr>
          <a:xfrm>
            <a:off x="777240" y="3209544"/>
            <a:ext cx="146304" cy="146304"/>
          </a:xfrm>
          <a:prstGeom prst="ellipse">
            <a:avLst/>
          </a:prstGeom>
          <a:solidFill>
            <a:srgbClr val="4F86D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136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Кафе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136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380 ₽</a:t>
            </a:r>
            <a:endParaRPr lang="en-US" sz="1400" dirty="0"/>
          </a:p>
        </p:txBody>
      </p:sp>
      <p:sp>
        <p:nvSpPr>
          <p:cNvPr id="13" name="Цвет Мерч"/>
          <p:cNvSpPr/>
          <p:nvPr/>
        </p:nvSpPr>
        <p:spPr>
          <a:xfrm>
            <a:off x="777240" y="3557016"/>
            <a:ext cx="146304" cy="146304"/>
          </a:xfrm>
          <a:prstGeom prst="ellipse">
            <a:avLst/>
          </a:prstGeom>
          <a:solidFill>
            <a:srgbClr val="2E9E7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3483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Мерч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4838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70 ₽</a:t>
            </a:r>
            <a:endParaRPr lang="en-US" sz="1400" dirty="0"/>
          </a:p>
        </p:txBody>
      </p:sp>
      <p:pic>
        <p:nvPicPr>
          <p:cNvPr id="16" name="Котик-бариста" descr="Котик-барис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017520"/>
            <a:ext cx="1508760" cy="1508760"/>
          </a:xfrm>
          <a:prstGeom prst="rect">
            <a:avLst/>
          </a:prstGeom>
        </p:spPr>
      </p:pic>
      <p:sp>
        <p:nvSpPr>
          <p:cNvPr id="17" name="Карточка гостей"/>
          <p:cNvSpPr/>
          <p:nvPr/>
        </p:nvSpPr>
        <p:spPr>
          <a:xfrm>
            <a:off x="4114800" y="1097280"/>
            <a:ext cx="4526280" cy="356616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3434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Гостей в день, 2027 год</a:t>
            </a:r>
            <a:endParaRPr lang="en-US" sz="1300" dirty="0"/>
          </a:p>
        </p:txBody>
      </p:sp>
      <p:graphicFrame>
        <p:nvGraphicFramePr>
          <p:cNvPr id="19" name="Гостей в день по месяцам" descr=""/>
          <p:cNvGraphicFramePr/>
          <p:nvPr/>
        </p:nvGraphicFramePr>
        <p:xfrm>
          <a:off x="4206240" y="1508760"/>
          <a:ext cx="4343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Цвет ниже"/>
          <p:cNvSpPr/>
          <p:nvPr/>
        </p:nvSpPr>
        <p:spPr>
          <a:xfrm>
            <a:off x="4389120" y="4315968"/>
            <a:ext cx="146304" cy="146304"/>
          </a:xfrm>
          <a:prstGeom prst="ellipse">
            <a:avLst/>
          </a:prstGeom>
          <a:solidFill>
            <a:srgbClr val="D9467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0288" y="4261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убыток</a:t>
            </a:r>
            <a:endParaRPr lang="en-US" sz="1100" dirty="0"/>
          </a:p>
        </p:txBody>
      </p:sp>
      <p:sp>
        <p:nvSpPr>
          <p:cNvPr id="22" name="Цвет выше"/>
          <p:cNvSpPr/>
          <p:nvPr/>
        </p:nvSpPr>
        <p:spPr>
          <a:xfrm>
            <a:off x="5303520" y="4315968"/>
            <a:ext cx="146304" cy="146304"/>
          </a:xfrm>
          <a:prstGeom prst="ellipse">
            <a:avLst/>
          </a:prstGeom>
          <a:solidFill>
            <a:srgbClr val="2E9E7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504688" y="4261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прибыль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4261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- - -  36 гостей = безубыточность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Когда придёт прибыль</a:t>
            </a:r>
            <a:endParaRPr lang="en-US" sz="3200" dirty="0"/>
          </a:p>
        </p:txBody>
      </p:sp>
      <p:sp>
        <p:nvSpPr>
          <p:cNvPr id="3" name="Карточка графика окупаемости"/>
          <p:cNvSpPr/>
          <p:nvPr/>
        </p:nvSpPr>
        <p:spPr>
          <a:xfrm>
            <a:off x="502920" y="1097280"/>
            <a:ext cx="5715000" cy="356616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Сколько заработали с начала, млн ₽</a:t>
            </a:r>
            <a:endParaRPr lang="en-US" sz="1300" dirty="0"/>
          </a:p>
        </p:txBody>
      </p:sp>
      <p:graphicFrame>
        <p:nvGraphicFramePr>
          <p:cNvPr id="5" name="Накопленная прибыль по месяцам" descr=""/>
          <p:cNvGraphicFramePr/>
          <p:nvPr/>
        </p:nvGraphicFramePr>
        <p:xfrm>
          <a:off x="594360" y="1508760"/>
          <a:ext cx="55321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480560" y="4315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месяц работы →</a:t>
            </a:r>
            <a:endParaRPr lang="en-US" sz="1000" dirty="0"/>
          </a:p>
        </p:txBody>
      </p:sp>
      <p:sp>
        <p:nvSpPr>
          <p:cNvPr id="7" name="Первая прибыль"/>
          <p:cNvSpPr/>
          <p:nvPr/>
        </p:nvSpPr>
        <p:spPr>
          <a:xfrm>
            <a:off x="6446520" y="1097280"/>
            <a:ext cx="2194560" cy="1051560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4652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4-й месяц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первая прибыль</a:t>
            </a:r>
            <a:endParaRPr lang="en-US" sz="1300" dirty="0"/>
          </a:p>
        </p:txBody>
      </p:sp>
      <p:sp>
        <p:nvSpPr>
          <p:cNvPr id="10" name="Окупаемость"/>
          <p:cNvSpPr/>
          <p:nvPr/>
        </p:nvSpPr>
        <p:spPr>
          <a:xfrm>
            <a:off x="6446520" y="2286000"/>
            <a:ext cx="2194560" cy="1051560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46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17-й месяц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вложения вернулись</a:t>
            </a:r>
            <a:endParaRPr lang="en-US" sz="1300" dirty="0"/>
          </a:p>
        </p:txBody>
      </p:sp>
      <p:pic>
        <p:nvPicPr>
          <p:cNvPr id="13" name="Котик празднует" descr="Котик празднуе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337560"/>
            <a:ext cx="146304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3" name="Итог вложения"/>
          <p:cNvSpPr/>
          <p:nvPr/>
        </p:nvSpPr>
        <p:spPr>
          <a:xfrm>
            <a:off x="502920" y="1097280"/>
            <a:ext cx="2560320" cy="9144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4,5 млн ₽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вложения</a:t>
            </a:r>
            <a:endParaRPr lang="en-US" sz="1300" dirty="0"/>
          </a:p>
        </p:txBody>
      </p:sp>
      <p:sp>
        <p:nvSpPr>
          <p:cNvPr id="6" name="Итог первая прибыль"/>
          <p:cNvSpPr/>
          <p:nvPr/>
        </p:nvSpPr>
        <p:spPr>
          <a:xfrm>
            <a:off x="3246120" y="1097280"/>
            <a:ext cx="2560320" cy="9144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4-й мес.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первая прибыль</a:t>
            </a:r>
            <a:endParaRPr lang="en-US" sz="1300" dirty="0"/>
          </a:p>
        </p:txBody>
      </p:sp>
      <p:sp>
        <p:nvSpPr>
          <p:cNvPr id="9" name="Итог окупаемость"/>
          <p:cNvSpPr/>
          <p:nvPr/>
        </p:nvSpPr>
        <p:spPr>
          <a:xfrm>
            <a:off x="502920" y="2194560"/>
            <a:ext cx="2560320" cy="9144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17 мес.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окупаемость</a:t>
            </a:r>
            <a:endParaRPr lang="en-US" sz="1300" dirty="0"/>
          </a:p>
        </p:txBody>
      </p:sp>
      <p:sp>
        <p:nvSpPr>
          <p:cNvPr id="12" name="Итог прибыль 2-го года"/>
          <p:cNvSpPr/>
          <p:nvPr/>
        </p:nvSpPr>
        <p:spPr>
          <a:xfrm>
            <a:off x="3246120" y="2194560"/>
            <a:ext cx="2560320" cy="9144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D9467A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6,4 млн ₽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прибыль 2-го года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Спасибо за внимание!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 радостью отвечу на вопросы</a:t>
            </a:r>
            <a:endParaRPr lang="en-US" sz="1600" dirty="0"/>
          </a:p>
        </p:txBody>
      </p:sp>
      <p:pic>
        <p:nvPicPr>
          <p:cNvPr id="17" name="Котики машут лапкой" descr="Котики машут лапк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246120"/>
            <a:ext cx="1371600" cy="1371600"/>
          </a:xfrm>
          <a:prstGeom prst="rect">
            <a:avLst/>
          </a:prstGeom>
        </p:spPr>
      </p:pic>
      <p:pic>
        <p:nvPicPr>
          <p:cNvPr id="18" name="Арт: портрет с кофе и котёнком" descr="Арт: портрет с кофе и котёнко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685800"/>
            <a:ext cx="3200400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A6A"/>
                </a:solidFill>
                <a:latin typeface="Nunito"/>
                <a:ea typeface="Nunito"/>
                <a:cs typeface="Nuni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урчалка — Клубничное молоко">
  <a:themeElements>
    <a:clrScheme name="Мурчалка — Клубничное молоко">
      <a:dk1>
        <a:srgbClr val="5B3A3A"/>
      </a:dk1>
      <a:lt1>
        <a:srgbClr val="FFFFFF"/>
      </a:lt1>
      <a:dk2>
        <a:srgbClr val="8A6A6A"/>
      </a:dk2>
      <a:lt2>
        <a:srgbClr val="FFEFF4"/>
      </a:lt2>
      <a:accent1>
        <a:srgbClr val="D9467A"/>
      </a:accent1>
      <a:accent2>
        <a:srgbClr val="2E9E7E"/>
      </a:accent2>
      <a:accent3>
        <a:srgbClr val="D08A12"/>
      </a:accent3>
      <a:accent4>
        <a:srgbClr val="4F86DB"/>
      </a:accent4>
      <a:accent5>
        <a:srgbClr val="8E5FD0"/>
      </a:accent5>
      <a:accent6>
        <a:srgbClr val="F7B8CB"/>
      </a:accent6>
      <a:hlink>
        <a:srgbClr val="D9467A"/>
      </a:hlink>
      <a:folHlink>
        <a:srgbClr val="8E5FD0"/>
      </a:folHlink>
    </a:clrScheme>
    <a:fontScheme name="Office">
      <a:majorFont>
        <a:latin typeface="Nunito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Кото-кафе «Мурчалка» — бизнес-план</dc:title>
  <dc:subject>Капитал, расходы и срок окупаемости</dc:subject>
  <dc:creator>PptxGenJS</dc:creator>
  <cp:lastModifiedBy>PptxGenJS</cp:lastModifiedBy>
  <cp:revision>1</cp:revision>
  <dcterms:created xsi:type="dcterms:W3CDTF">2026-10-08T19:25:20Z</dcterms:created>
  <dcterms:modified xsi:type="dcterms:W3CDTF">2026-10-08T19:25:20Z</dcterms:modified>
</cp:coreProperties>
</file>